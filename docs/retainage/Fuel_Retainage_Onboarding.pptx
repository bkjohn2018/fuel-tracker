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plain-language onboarding to fuel usage and shipper retainage. We're deliberately leaving the systems and models out — the goal today is the underlying idea: what we do and why. If you leave understanding one sentence, this deck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session: we are not training on a tool today. We're building the mental model. Everything downstream — entries, filings, systems — makes sense only once these principles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anchor. Read it out loud. The regulator (FERC) gives us freedom to set our fuel rate, but attaches one condition: fuel is a cost to recover, not a source of earnings. Keep coming back to this line the whole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term simply. Retainage / retention is the sliver of gas we keep from each shipper, stated as a percentage in our tariff. Emphasize it's paid in gas (in-kind), not cash. The 2% is illustrative; our actual rate is in the tariff.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retainage exists. Fuel to run compressors, unavoidable losses, and the fact that shippers reimburse us in gas. Nothing here is optional or unusual — it's the physical reality of operating a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symmetry is the point. Over-recovery is a liability we owe back; under-recovery is a cost we may recover. Neither is profit or loss. If fuel ever shows up as earnings, something is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Plain-language version of the regulatory framework. Fair and filed rates; a hard no-over-collection rule when we track costs; and transparent reporting. We don't need the citations today — just the principles.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process, tool-agnostic. Step 1: a timely estimate so the period isn't blank. Step 2: replace the estimate with physically measured actuals and book the difference. Estimate for speed, true up for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number. We kept 20,000, used 19,200, so 800 units is an over-recovery. Reinforce: that surplus is a liability to shippers, not a gain. If we'd used more than we kept, it would flip to an under-recovery.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numbers live. Over-recovery = a liability (we owe gas back). Under-recovery = an asset, but only when we'll likely recover it. This is rate-regulated accounting (ASC 980) at a principle level. The takeaway: these are balance-sheet items, and fuel nets to zero in earnings.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step teams most often miss. Two levers: reset the percentage going forward so retained matches used, and clear the accumulated balance by returning a surplus or collecting a shortfall. Without this loop, retainage drifts and surpluses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simple scorecard the team can self-check against every period. If these five are true, the process is healthy. If the balance keeps growing or fuel hits earnings, dig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personal. The team isn't doing bookkeeping busywork — they are the control that keeps fuel revenue-neutral and defensible. Tie it back to the North 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Glossary. Keep it handy — these five terms cover most of what the team will hear. Don't drill; just make sure the words aren't intimidating.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where we started. One sentence: break even on fuel, never profit from it. If everyone leaves holding that, they can build the rest from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0E4B5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566160"/>
            <a:ext cx="3840480" cy="3840480"/>
          </a:xfrm>
          <a:prstGeom prst="ellipse">
            <a:avLst/>
          </a:prstGeom>
          <a:solidFill>
            <a:srgbClr val="2A9D8F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960120" cy="96012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40434"/>
            <a:ext cx="422453" cy="4224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06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ACCOUNTING  ·  ONBOARDING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9718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Usage &amp; Shipper Retainage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do, why we do it, and what good looks like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4983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principles-first guide for the team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here: the what and the why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system or spreadsheet, understand the idea. This guide is about principles — not tools.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777240" cy="777240"/>
          </a:xfrm>
          <a:prstGeom prst="ellipse">
            <a:avLst/>
          </a:prstGeom>
          <a:solidFill>
            <a:srgbClr val="0E4B54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" y="2366467"/>
            <a:ext cx="341986" cy="341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13055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doing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2532888"/>
            <a:ext cx="9829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for the small amount of gas we keep from shippers to run the pipeline.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777240" cy="77724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" y="3646627"/>
            <a:ext cx="341986" cy="3419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41071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91640" y="3813048"/>
            <a:ext cx="9829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regulator lets us set the rate — but only enough to cover our fuel, never to profit from it.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777240" cy="777240"/>
          </a:xfrm>
          <a:prstGeom prst="ellipse">
            <a:avLst/>
          </a:prstGeom>
          <a:solidFill>
            <a:srgbClr val="E0A23B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" y="4926787"/>
            <a:ext cx="341986" cy="3419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69087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leave with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91640" y="5093208"/>
            <a:ext cx="9829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and the logic to handle fuel retainage with confidence.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937760" cy="4937760"/>
          </a:xfrm>
          <a:prstGeom prst="ellipse">
            <a:avLst/>
          </a:prstGeom>
          <a:solidFill>
            <a:srgbClr val="0E4B54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STAR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 set our own fuel rate.
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just can't profit from fuel.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and every entry in this guide comes back to this one idea.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fuel retainage?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a shipper's gas across the pipeline, we burn some gas in our compressors, and a little is lost along the way. Instead of buying that gas, we keep a small percentage of every shipper's gas in-kind. That slice is fuel retainage.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3108960" cy="1737360"/>
          </a:xfrm>
          <a:prstGeom prst="roundRect">
            <a:avLst>
              <a:gd name="adj" fmla="val 4737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Shipper's gas enters the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26280" y="3063240"/>
            <a:ext cx="3108960" cy="1737360"/>
          </a:xfrm>
          <a:prstGeom prst="roundRect">
            <a:avLst>
              <a:gd name="adj" fmla="val 4737"/>
            </a:avLst>
          </a:prstGeom>
          <a:solidFill>
            <a:srgbClr val="0E4B54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6344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this in-kind for fuel &amp; losses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8412480" y="3063240"/>
            <a:ext cx="3108960" cy="1737360"/>
          </a:xfrm>
          <a:prstGeom prst="roundRect">
            <a:avLst>
              <a:gd name="adj" fmla="val 4737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~98%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4964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the shipper's destination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retained percentage is small — but across millions of units, getting it right matters.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keep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392424" cy="3840480"/>
          </a:xfrm>
          <a:prstGeom prst="roundRect">
            <a:avLst>
              <a:gd name="adj" fmla="val 2426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0E4B54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21909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5648" y="2048256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Compressor fuel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32688" y="2816352"/>
            <a:ext cx="28072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engines that push gas through the system run on gas. That fuel has to come from somewhere.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98264" y="1737360"/>
            <a:ext cx="3392424" cy="3840480"/>
          </a:xfrm>
          <a:prstGeom prst="roundRect">
            <a:avLst>
              <a:gd name="adj" fmla="val 2426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72584" y="2011680"/>
            <a:ext cx="640080" cy="64008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06" y="21909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13832" y="2048256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&amp; unaccounted-for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690872" y="2816352"/>
            <a:ext cx="28072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losses from measurement differences and minor leaks are unavoidable when moving gas.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56448" y="1737360"/>
            <a:ext cx="3392424" cy="3840480"/>
          </a:xfrm>
          <a:prstGeom prst="roundRect">
            <a:avLst>
              <a:gd name="adj" fmla="val 2426"/>
            </a:avLst>
          </a:prstGeom>
          <a:solidFill>
            <a:srgbClr val="FBF3E3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30768" y="2011680"/>
            <a:ext cx="640080" cy="640080"/>
          </a:xfrm>
          <a:prstGeom prst="ellipse">
            <a:avLst/>
          </a:prstGeom>
          <a:solidFill>
            <a:srgbClr val="E0A23B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19090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72016" y="2048256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In-kind reimbursement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449056" y="2816352"/>
            <a:ext cx="280720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Shippers cover these real costs with gas rather than cash — a slice of what they hand us to move.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cost to recover — not a margin to earn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225796" cy="3200400"/>
          </a:xfrm>
          <a:prstGeom prst="roundRect">
            <a:avLst>
              <a:gd name="adj" fmla="val 2571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E4B54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22823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5648" y="2139696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MORE than we use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32688" y="2907792"/>
            <a:ext cx="46405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over-recovered.</a:t>
            </a:r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surplus is not profit — it is gas we owe back to our shippers.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23076" y="1828800"/>
            <a:ext cx="5225796" cy="3200400"/>
          </a:xfrm>
          <a:prstGeom prst="roundRect">
            <a:avLst>
              <a:gd name="adj" fmla="val 2571"/>
            </a:avLst>
          </a:prstGeom>
          <a:solidFill>
            <a:srgbClr val="FBF3E3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97396" y="2103120"/>
            <a:ext cx="640080" cy="640080"/>
          </a:xfrm>
          <a:prstGeom prst="ellipse">
            <a:avLst/>
          </a:prstGeom>
          <a:solidFill>
            <a:srgbClr val="E0A23B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618" y="22823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38644" y="2139696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LESS than we use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615684" y="2907792"/>
            <a:ext cx="46405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B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under-recovered.</a:t>
            </a:r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absorbed a cost we may be allowed to collect back later.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out over time, fuel should cost us nothing and earn us nothing. That's the whole game.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rules, in plain terms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regulator (FERC) sets the boundaries. Three of them drive everything we 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92424" cy="3566160"/>
          </a:xfrm>
          <a:prstGeom prst="roundRect">
            <a:avLst>
              <a:gd name="adj" fmla="val 2426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40080" cy="640080"/>
          </a:xfrm>
          <a:prstGeom prst="ellipse">
            <a:avLst/>
          </a:prstGeom>
          <a:solidFill>
            <a:srgbClr val="0E4B54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24652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322576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rates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32688" y="3090672"/>
            <a:ext cx="2807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rates must be fair and reasonable — and on file with the regulator before we charge them.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98264" y="2011680"/>
            <a:ext cx="3392424" cy="3566160"/>
          </a:xfrm>
          <a:prstGeom prst="roundRect">
            <a:avLst>
              <a:gd name="adj" fmla="val 2426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2286000"/>
            <a:ext cx="640080" cy="64008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06" y="24652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2322576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over-collect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90872" y="3090672"/>
            <a:ext cx="2807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adjust our rate to track cost, we can never keep a surplus. Everything extra goes back.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56448" y="2011680"/>
            <a:ext cx="3392424" cy="3566160"/>
          </a:xfrm>
          <a:prstGeom prst="roundRect">
            <a:avLst>
              <a:gd name="adj" fmla="val 2426"/>
            </a:avLst>
          </a:prstGeom>
          <a:solidFill>
            <a:srgbClr val="FBF3E3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286000"/>
            <a:ext cx="640080" cy="640080"/>
          </a:xfrm>
          <a:prstGeom prst="ellipse">
            <a:avLst/>
          </a:prstGeom>
          <a:solidFill>
            <a:srgbClr val="E0A23B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990" y="246522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72016" y="2322576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our work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49056" y="3090672"/>
            <a:ext cx="2807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what we retained versus what we actually used, so the numbers can be checked.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job, in two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997196" cy="3108960"/>
          </a:xfrm>
          <a:prstGeom prst="roundRect">
            <a:avLst>
              <a:gd name="adj" fmla="val 2647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194560"/>
            <a:ext cx="822960" cy="822960"/>
          </a:xfrm>
          <a:prstGeom prst="ellipse">
            <a:avLst/>
          </a:prstGeom>
          <a:solidFill>
            <a:srgbClr val="0E4B54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549" y="2424989"/>
            <a:ext cx="362102" cy="362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65960" y="2478024"/>
            <a:ext cx="3442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43571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 the period, estimate the fuel we used and the gas we retained — so the books are timely and complete, like a flash report.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37276" y="3063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551676" y="1874520"/>
            <a:ext cx="4997196" cy="3108960"/>
          </a:xfrm>
          <a:prstGeom prst="roundRect">
            <a:avLst>
              <a:gd name="adj" fmla="val 2647"/>
            </a:avLst>
          </a:prstGeom>
          <a:solidFill>
            <a:srgbClr val="FBF3E3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71716" y="2194560"/>
            <a:ext cx="822960" cy="822960"/>
          </a:xfrm>
          <a:prstGeom prst="ellipse">
            <a:avLst/>
          </a:prstGeom>
          <a:solidFill>
            <a:srgbClr val="E0A23B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145" y="2424989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77556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77556" y="2478024"/>
            <a:ext cx="3442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up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871716" y="3291840"/>
            <a:ext cx="43571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measured, physical numbers arrive, replace the estimate with reality and record the difference we over- or under-kept.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first for speed. Correct to actuals for truth.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 or under-recovered: a quick example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148840"/>
            <a:ext cx="3331464" cy="2194560"/>
          </a:xfrm>
          <a:prstGeom prst="roundRect">
            <a:avLst>
              <a:gd name="adj" fmla="val 3750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606040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we retained from shippers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28744" y="2148840"/>
            <a:ext cx="3331464" cy="2194560"/>
          </a:xfrm>
          <a:prstGeom prst="roundRect">
            <a:avLst>
              <a:gd name="adj" fmla="val 3750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28744" y="2606040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19,200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11624" y="35661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we actually used &amp; lost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17408" y="2148840"/>
            <a:ext cx="3331464" cy="2194560"/>
          </a:xfrm>
          <a:prstGeom prst="roundRect">
            <a:avLst>
              <a:gd name="adj" fmla="val 3750"/>
            </a:avLst>
          </a:prstGeom>
          <a:solidFill>
            <a:srgbClr val="FBF3E3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17408" y="2606040"/>
            <a:ext cx="3331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400288" y="356616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over — owed back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4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800 units aren't profit. </a:t>
            </a:r>
            <a:pPr algn="ctr" indent="0" marL="0">
              <a:buNone/>
            </a:pPr>
            <a:r>
              <a:rPr lang="en-US" sz="160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a surplus we owe back to shippers.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lands on the books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we owe back or expect to collect sit on the balance sheet — not in earnings.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25796" cy="2834640"/>
          </a:xfrm>
          <a:prstGeom prst="roundRect">
            <a:avLst>
              <a:gd name="adj" fmla="val 2903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0E4B54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251094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368296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Over-recovered → a liability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32688" y="3136392"/>
            <a:ext cx="46405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gas we owe back sits on the balance sheet until we return it to shippers.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3076" y="2057400"/>
            <a:ext cx="5225796" cy="2834640"/>
          </a:xfrm>
          <a:prstGeom prst="roundRect">
            <a:avLst>
              <a:gd name="adj" fmla="val 2903"/>
            </a:avLst>
          </a:prstGeom>
          <a:solidFill>
            <a:srgbClr val="FBF3E3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7396" y="2331720"/>
            <a:ext cx="640080" cy="640080"/>
          </a:xfrm>
          <a:prstGeom prst="ellipse">
            <a:avLst/>
          </a:prstGeom>
          <a:solidFill>
            <a:srgbClr val="E0A23B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618" y="251094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38644" y="2368296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Under-recovered → an asset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15684" y="3136392"/>
            <a:ext cx="46405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we expect to collect later shows as an asset — when recovery is likely.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fuel should never create a profit or a loss in our results.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loop: managing the rate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gap isn't enough — we have to move the rate so the gap trends to zero.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25796" cy="2834640"/>
          </a:xfrm>
          <a:prstGeom prst="roundRect">
            <a:avLst>
              <a:gd name="adj" fmla="val 2903"/>
            </a:avLst>
          </a:prstGeom>
          <a:solidFill>
            <a:srgbClr val="EAF3F2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26023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459736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the rate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32688" y="3227832"/>
            <a:ext cx="46405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go-forward percentage so what we keep is about equal to what we actually use.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3076" y="2148840"/>
            <a:ext cx="5225796" cy="2834640"/>
          </a:xfrm>
          <a:prstGeom prst="roundRect">
            <a:avLst>
              <a:gd name="adj" fmla="val 2903"/>
            </a:avLst>
          </a:prstGeom>
          <a:solidFill>
            <a:srgbClr val="FBF3E3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2E33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7396" y="2423160"/>
            <a:ext cx="640080" cy="640080"/>
          </a:xfrm>
          <a:prstGeom prst="ellipse">
            <a:avLst/>
          </a:prstGeom>
          <a:solidFill>
            <a:srgbClr val="E0A23B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618" y="260238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38644" y="2459736"/>
            <a:ext cx="3854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or collect the balance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15684" y="3227832"/>
            <a:ext cx="46405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surplus back to shippers — or recover a shortfall — through the rate over time.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step that keeps shipper retainage from drifting over- or under-accrued.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“good” looks like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1051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737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keep is about equal to what we actually use, over a reasonable period.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51760"/>
            <a:ext cx="384048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4440" y="257860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balance trends toward zero — not steadily growing.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93008"/>
            <a:ext cx="384048" cy="3840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4440" y="34198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get corrected to measured actuals every period.</a:t>
            </a:r>
            <a:endParaRPr lang="en-US" sz="1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34256"/>
            <a:ext cx="384048" cy="3840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34440" y="426110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surplus is left sitting and quietly growing.</a:t>
            </a:r>
            <a:endParaRPr lang="en-US" sz="1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75504"/>
            <a:ext cx="384048" cy="38404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34440" y="51023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nets to zero in earnings — no profit, no loss.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291840"/>
            <a:ext cx="5120640" cy="5120640"/>
          </a:xfrm>
          <a:prstGeom prst="ellipse">
            <a:avLst/>
          </a:prstGeom>
          <a:solidFill>
            <a:srgbClr val="0E4B54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234440"/>
            <a:ext cx="914400" cy="914400"/>
          </a:xfrm>
          <a:prstGeom prst="ellipse">
            <a:avLst/>
          </a:prstGeom>
          <a:solidFill>
            <a:srgbClr val="2A9D8F"/>
          </a:solidFill>
          <a:ln/>
          <a:effectLst>
            <a:outerShdw sx="100000" sy="100000" kx="0" ky="0" algn="bl" rotWithShape="0" blurRad="114300" dist="38100" dir="5400000">
              <a:srgbClr val="0B2E33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490472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77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your work matters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32918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right and we stay compliant, our shippers are charged fairly, and fuel never distorts our results. Let a surplus build unnoticed, and it becomes exactly what regulators and shippers challenge.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892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E0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control that keeps it honest.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4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16952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E4B5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Retainage / retention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small % of gas we keep from each shipper to cover fuel and losses.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E4B5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Lost &amp; unaccounted-for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Unavoidable small losses from measurement and leaks when moving gas.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E4B5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Over- / under-recovery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Keeping more (or less) gas than we actually used and lost.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E4B5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True-up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Correcting our estimates to the measured, physical actuals.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E4B5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Regulatory asset / liability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3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Amounts we expect to collect / owe back, held on the balance sheet.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Usage &amp; Shipper Retainage  ·  Team Onboarding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18311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120640" cy="5120640"/>
          </a:xfrm>
          <a:prstGeom prst="ellipse">
            <a:avLst/>
          </a:prstGeom>
          <a:solidFill>
            <a:srgbClr val="0E4B54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3840480" cy="3840480"/>
          </a:xfrm>
          <a:prstGeom prst="ellipse">
            <a:avLst/>
          </a:prstGeom>
          <a:solidFill>
            <a:srgbClr val="2A9D8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TO REMEMBER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rate to break even on fuel —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to profit from it.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detail.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Usage &amp; Shipper Retainage — Onboarding</dc:title>
  <dc:subject>PptxGenJS Presentation</dc:subject>
  <dc:creator>Operational Accounting</dc:creator>
  <cp:lastModifiedBy>Operational Accounting</cp:lastModifiedBy>
  <cp:revision>1</cp:revision>
  <dcterms:created xsi:type="dcterms:W3CDTF">2026-07-03T14:01:25Z</dcterms:created>
  <dcterms:modified xsi:type="dcterms:W3CDTF">2026-07-03T14:01:25Z</dcterms:modified>
</cp:coreProperties>
</file>